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1590e86424417" /><Relationship Type="http://schemas.openxmlformats.org/officeDocument/2006/relationships/extended-properties" Target="/docProps/app.xml" Id="R0e5fa8bc96b244b4" /><Relationship Type="http://schemas.openxmlformats.org/officeDocument/2006/relationships/officeDocument" Target="/ppt/presentation.xml" Id="Rccb4e10e85eb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df8b8be674426"/>
  </p:sldMasterIdLst>
  <p:notesMasterIdLst>
    <p:notesMasterId xmlns:r="http://schemas.openxmlformats.org/officeDocument/2006/relationships" r:id="Rf861d1328e47484a"/>
  </p:notesMasterIdLst>
  <p:sldIdLst>
    <p:sldId xmlns:r="http://schemas.openxmlformats.org/officeDocument/2006/relationships" id="256" r:id="R0ea6aa7e5a4b445a"/>
    <p:sldId xmlns:r="http://schemas.openxmlformats.org/officeDocument/2006/relationships" id="257" r:id="R29b9ffd212534ab8"/>
    <p:sldId xmlns:r="http://schemas.openxmlformats.org/officeDocument/2006/relationships" id="258" r:id="R4e9602b303a74f8e"/>
    <p:sldId xmlns:r="http://schemas.openxmlformats.org/officeDocument/2006/relationships" id="259" r:id="R520956edc7fb4fde"/>
    <p:sldId xmlns:r="http://schemas.openxmlformats.org/officeDocument/2006/relationships" id="260" r:id="R815a576632b24948"/>
    <p:sldId xmlns:r="http://schemas.openxmlformats.org/officeDocument/2006/relationships" id="261" r:id="Rea934598c5d94855"/>
    <p:sldId xmlns:r="http://schemas.openxmlformats.org/officeDocument/2006/relationships" id="262" r:id="Ra06c2c35ed4943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ae1721afc4715" /><Relationship Type="http://schemas.openxmlformats.org/officeDocument/2006/relationships/slideMaster" Target="/ppt/slideMasters/slideMaster1.xml" Id="R624df8b8be674426" /><Relationship Type="http://schemas.openxmlformats.org/officeDocument/2006/relationships/notesMaster" Target="/ppt/notesMasters/notesMaster1.xml" Id="Rf861d1328e47484a" /><Relationship Type="http://schemas.openxmlformats.org/officeDocument/2006/relationships/presProps" Target="/ppt/presProps.xml" Id="Rfb78a70fc1d646fb" /><Relationship Type="http://schemas.openxmlformats.org/officeDocument/2006/relationships/tableStyles" Target="/ppt/tableStyles.xml" Id="R1d1bd09d802f4674" /><Relationship Type="http://schemas.openxmlformats.org/officeDocument/2006/relationships/slide" Target="/ppt/slides/slide1.xml" Id="R0ea6aa7e5a4b445a" /><Relationship Type="http://schemas.openxmlformats.org/officeDocument/2006/relationships/slide" Target="/ppt/slides/slide2.xml" Id="R29b9ffd212534ab8" /><Relationship Type="http://schemas.openxmlformats.org/officeDocument/2006/relationships/slide" Target="/ppt/slides/slide3.xml" Id="R4e9602b303a74f8e" /><Relationship Type="http://schemas.openxmlformats.org/officeDocument/2006/relationships/slide" Target="/ppt/slides/slide4.xml" Id="R520956edc7fb4fde" /><Relationship Type="http://schemas.openxmlformats.org/officeDocument/2006/relationships/slide" Target="/ppt/slides/slide5.xml" Id="R815a576632b24948" /><Relationship Type="http://schemas.openxmlformats.org/officeDocument/2006/relationships/slide" Target="/ppt/slides/slide6.xml" Id="Rea934598c5d94855" /><Relationship Type="http://schemas.openxmlformats.org/officeDocument/2006/relationships/slide" Target="/ppt/slides/slide7.xml" Id="Ra06c2c35ed4943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36ebc8c829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e866e2e2c4b76" /><Relationship Type="http://schemas.openxmlformats.org/officeDocument/2006/relationships/notesMaster" Target="/ppt/notesMasters/notesMaster1.xml" Id="R1caae3d58b1742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2893c44824361" /><Relationship Type="http://schemas.openxmlformats.org/officeDocument/2006/relationships/notesMaster" Target="/ppt/notesMasters/notesMaster1.xml" Id="R663873013629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942e889e87404d" /><Relationship Type="http://schemas.openxmlformats.org/officeDocument/2006/relationships/notesMaster" Target="/ppt/notesMasters/notesMaster1.xml" Id="R33ad886b4f10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1ad9bcf0694202" /><Relationship Type="http://schemas.openxmlformats.org/officeDocument/2006/relationships/notesMaster" Target="/ppt/notesMasters/notesMaster1.xml" Id="R1db5e97b2455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74346b8bb458c" /><Relationship Type="http://schemas.openxmlformats.org/officeDocument/2006/relationships/notesMaster" Target="/ppt/notesMasters/notesMaster1.xml" Id="Rbc45fe7808d847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beb560b4484101" /><Relationship Type="http://schemas.openxmlformats.org/officeDocument/2006/relationships/notesMaster" Target="/ppt/notesMasters/notesMaster1.xml" Id="R1207559a88e245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926dd41da4513" /><Relationship Type="http://schemas.openxmlformats.org/officeDocument/2006/relationships/notesMaster" Target="/ppt/notesMasters/notesMaster1.xml" Id="Rc57f5ac3085546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1.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сделали помощник для выбора места в Астане: задаём точку, время и желание, затем сравниваем до трёх подходящих вариантов. Демонстрация использует настоящий каталог. Сейчас работает явный детерминированный разбор пяти известных фраз и поиск по словам. Это существенная граница: мы не называем этот режим работающей live-моделью и не показываем выдуманные ответы генератора. Далее — пользовательский путь, происхождение данных и измеренные результаты именно этого режима.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docs/product-spec.md; docs/model-decision.md; docs/data-contract.md.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принятом production-сценарии выбраны EXPO, пять километров и час на посещение. Используется точная фраза «Хочу погулять», без профиля, бюджета и требования открытости. API вернул три реальных парка: Ботанический сад, Samal Park и Ғашықтар. На обоих экранах явно показана недоступность части ИИ-возможностей. Расстояние рассчитано по прямой, длительность посещения дана как оценка, дорога отдельно. Другой сценарий с обязательным бюджетом 2500 тенге даёт ноль результатов: подтверждённых цен нет. Условия не ослабляются ради выдачи. Оба PNG — неизменённые принятые production-снимки.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docs/submission/scenarios.md; docs/submission/release-manifest.json; output/submission-build/video/asset-observations.json; output/submission-build/video/screenshots/desktop-results-1440.png; output/submission-build/video/screenshots/mobile-results-390.png.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— 298 реальных POI из существующего автоматизированного workflow 2ГИС/Apify. Для приложения сделан отдельный offline-адаптер, сборщик и исходные локальные снимки сохранены. Каждое место содержит ссылки и даты источников. В каталог вошла 591 короткая исходная выдержка отзыва без авторов и контактов. Проверенный срез из 36 мест покрывает три зоны и три категории. Цен и подтверждённых amenities нет, поэтому они остаются неизвестными. Указанное время — время сбора и формирования снимка, а не публикации самого места или отзыва. Права публикации исходных отзывов отдельно не установлены.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docs/collection-import.md; data/catalog/import-report.json; docs/evaluation-labels.md.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фактический путь текущего offline-демо. Пустой текст с выбранной категорией обрабатывается локально; известные фразы разбираются только при явно включённом stub. Неизвестное дополнение к фразе не отбрасывается, а приводит к уточнению. После фильтров ранжирование использует слова, расстояние и мягкие предпочтения. Сервер допускает только ID загруженного каталога и источники того же места; фактические поля карточки подставляются кодом. Локально принят настоящий индекс298 мест по1536 измерений и semantic retrieval12RU+4negative. На публичном сайте остаются stub и лексический поиск. Live-генерация и полная end-to-end RAG-приёмка не приняты.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docs/model-decision.md; docs/data-contract.md; src/lib/recommend.ts; src/lib/search/retrieve.ts.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Демо-профиль «Студент» не заменяет прогулку интересом к кофе. В подробностях есть первичные ссылки и даты. Два исходных отзыва раскрываются как мнения посетителей, без авторов и контактов, дата сбора отделена от публикации. «Сохранить» и «Не интересно» записывают локально только ID и выбранный демо-профиль. Сброс очищает их, сохраняя форму. Запросы, координаты и аудио в историю не записываются. Обе карты получают точку выбранного места, есть режимы пешком и на машине. HTTPS-ссылки проверены в браузере. Пользователь ранее подтвердил обе native-карты на старом URL той же stub-сборки. Текущий donate URL проверен браузером390/1440, повтор на физическом телефоне пока не подтверждён.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docs/submission/scenarios.md; src/lib/preferences.ts; src/lib/navigation.ts; output/submission-build/video/asset-observations.json; output/submission-build/video/screenshots/desktop-sources-1440.png; output/submission-build/video/screenshots/mobile-details-390.png.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65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неизменном наборе из двенадцати русских положительных запросов измерен поиск по словам. Top-3 success вырос с одиннадцати до двенадцати, macro Recall@5 — с 88,33 до 97,22 процента. Во всех четырёх отрицательных случаях жёсткие условия соблюдены. 97,22 — математический потолок этого набора: два запроса имеют по шесть релевантных мест, а top-5 вмещает только пять. Relevant ID не удалялись под выдачу. Четыре казахских запроса посчитаны отдельно, с фиксированным UI intent. Это агентская development-разметка, не blind benchmark. Проверка KK носителем языка и live-моделью отсутствует. Отдельно локально принят реальный индекс298×1536 и semantic retrieval12RU+4negative. Эти табличные числа относятся только к лексическому поиску. Live-модель не выбрана, полный P0 не принят.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docs/model-decision.md; docs/evaluation-labels.md; docs/evaluation-kk.md; output/evaluation/M4.2-root-retrieval.jsonl; output/evaluation/M4.2-kk-supplemental.json.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Ссылка открывает временный QuickTunnel. Она зависит от работающих Mac, production-сервера, туннеля и сети, постоянного хостинга и SLA нет. После перезапуска мы заново проверили актуальный адрес. Код версии 572a813 прошёл 554 unit-теста и 62 Chromium-проверки на ширине 390 и 1440 пикселей. Это эмуляция, не физический телефон. Публичный сайт остаётся явным stub/lexical на реальном каталоге. Отдельно локально принят индекс298×1536 и semantic retrieval12RU+4negative. Live-модель и полная RAG-приёмка не приняты. Голоса и аудио-вызовов нет. Live-вызовы остановлены из-за неизвестной стоимости части попыток. Общие лимиты подготовки2USD/live-eval1.50USD внутри2USD и отдельный резервdemo4USD сохраняются. Неизвестную фактическую стоимость не называем нулевой. Непроверенная бизнес-гипотеза — партнёрские предложения заведений. Следующий шаг — интервью с пользователями и заведениями. Возможная реклама должна иметь явную пометку и никогда не менять жёсткие фильтры.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docs/submission/release-manifest.json; docs/submission/links.md; docs/submission/limitations.md; docs/budget.md.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8b94da5a14c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54e315c724a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0a184afc64c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269d09a3b41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57d41b93841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cea2f9a9c4f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8EC6D1-2F90-4666-8291-41C160C86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95FE03-9971-4515-A1B2-8FC5A5D7AF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BBC051-C515-46D1-8101-B92412F12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130D0-CCAE-4396-83FC-1A79D88CD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AA695-458A-4357-813D-6C9086A5C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EFD13-BFA1-4373-B1DF-57F01E1D6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710226-34FA-43C6-B728-0D8FB6A6CE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184C8A-9251-4C98-A1E1-3FBF87A798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45CD2-E2CD-40AF-9E03-A4A89DDD1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F890AA-00E6-4427-B3DB-2780A1E37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81ee27b3f4dfd" /><Relationship Type="http://schemas.openxmlformats.org/officeDocument/2006/relationships/slideLayout" Target="/ppt/slideLayouts/slideLayout1.xml" Id="Rd2df99523cbd497d" /><Relationship Type="http://schemas.openxmlformats.org/officeDocument/2006/relationships/slideLayout" Target="/ppt/slideLayouts/slideLayout2.xml" Id="R64b521ebcbd64235" /><Relationship Type="http://schemas.openxmlformats.org/officeDocument/2006/relationships/slideLayout" Target="/ppt/slideLayouts/slideLayout3.xml" Id="Ra2f606aa91fd42f6" /><Relationship Type="http://schemas.openxmlformats.org/officeDocument/2006/relationships/slideLayout" Target="/ppt/slideLayouts/slideLayout4.xml" Id="R39f18412512040a9" /><Relationship Type="http://schemas.openxmlformats.org/officeDocument/2006/relationships/slideLayout" Target="/ppt/slideLayouts/slideLayout5.xml" Id="R0d78ce4433564671" /><Relationship Type="http://schemas.openxmlformats.org/officeDocument/2006/relationships/slideLayout" Target="/ppt/slideLayouts/slideLayout6.xml" Id="R80600cd32ac644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f99523cbd497d"/>
    <p:sldLayoutId xmlns:r="http://schemas.openxmlformats.org/officeDocument/2006/relationships" id="2147483650" r:id="R64b521ebcbd64235"/>
    <p:sldLayoutId xmlns:r="http://schemas.openxmlformats.org/officeDocument/2006/relationships" id="2147483651" r:id="Ra2f606aa91fd42f6"/>
    <p:sldLayoutId xmlns:r="http://schemas.openxmlformats.org/officeDocument/2006/relationships" id="2147483652" r:id="R39f18412512040a9"/>
    <p:sldLayoutId xmlns:r="http://schemas.openxmlformats.org/officeDocument/2006/relationships" id="2147483653" r:id="R0d78ce4433564671"/>
    <p:sldLayoutId xmlns:r="http://schemas.openxmlformats.org/officeDocument/2006/relationships" id="2147483654" r:id="R80600cd32ac644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acd2d1ef14106" /><Relationship Type="http://schemas.openxmlformats.org/officeDocument/2006/relationships/notesSlide" Target="/ppt/notesSlides/notesSlide1.xml" Id="R715818cf8358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568548332489f" /><Relationship Type="http://schemas.openxmlformats.org/officeDocument/2006/relationships/image" Target="/ppt/media/image.png" Id="Rc3f178dcc171454e" /><Relationship Type="http://schemas.openxmlformats.org/officeDocument/2006/relationships/image" Target="/ppt/media/image2.png" Id="R0e3af2a73b2146a3" /><Relationship Type="http://schemas.openxmlformats.org/officeDocument/2006/relationships/notesSlide" Target="/ppt/notesSlides/notesSlide2.xml" Id="R4f4c20223e02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868197dba4004" /><Relationship Type="http://schemas.openxmlformats.org/officeDocument/2006/relationships/notesSlide" Target="/ppt/notesSlides/notesSlide3.xml" Id="R57bc282f627c44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322e9700741df" /><Relationship Type="http://schemas.openxmlformats.org/officeDocument/2006/relationships/notesSlide" Target="/ppt/notesSlides/notesSlide4.xml" Id="R6ed19d9fd46b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1ceb9bfdc4a3f" /><Relationship Type="http://schemas.openxmlformats.org/officeDocument/2006/relationships/image" Target="/ppt/media/image3.png" Id="R4ca0bda39a47462f" /><Relationship Type="http://schemas.openxmlformats.org/officeDocument/2006/relationships/image" Target="/ppt/media/image4.png" Id="Rd2cd10117ca744ab" /><Relationship Type="http://schemas.openxmlformats.org/officeDocument/2006/relationships/notesSlide" Target="/ppt/notesSlides/notesSlide5.xml" Id="Rb4654d9bcfad4a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d97c2abce044d4" /><Relationship Type="http://schemas.openxmlformats.org/officeDocument/2006/relationships/notesSlide" Target="/ppt/notesSlides/notesSlide6.xml" Id="Re47150fada33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51e92059840d5" /><Relationship Type="http://schemas.openxmlformats.org/officeDocument/2006/relationships/hyperlink" Target="https://donate-cooperation-quick-annual.trycloudflare.com" TargetMode="External" Id="Re4ac6d0f94e741f3" /><Relationship Type="http://schemas.openxmlformats.org/officeDocument/2006/relationships/notesSlide" Target="/ppt/notesSlides/notesSlide7.xml" Id="Rd4defa9aacd544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1C699E3-0D68-451E-9587-76E032E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2" name="cover-event">
            <a:extLst xmlns:a="http://schemas.openxmlformats.org/drawingml/2006/main">
              <a:ext uri="{FF2B5EF4-FFF2-40B4-BE49-F238E27FC236}">
                <a16:creationId xmlns:a16="http://schemas.microsoft.com/office/drawing/2014/main" id="{2632E896-F045-4C50-A8A6-CF7204C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AituHack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43473FA-C6B0-4080-A285-A46D085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Куда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в Астане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45193C9-05E0-4B7D-BA5D-9E8D012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Место под ваше время</a:t>
            </a:r>
          </a:p>
        </p:txBody>
      </p:sp>
      <p:sp>
        <p:nvSpPr>
          <p:cNvPr id="5" name="cover-disclosure">
            <a:extLst xmlns:a="http://schemas.openxmlformats.org/drawingml/2006/main">
              <a:ext uri="{FF2B5EF4-FFF2-40B4-BE49-F238E27FC236}">
                <a16:creationId xmlns:a16="http://schemas.microsoft.com/office/drawing/2014/main" id="{11D2FC42-709F-4789-B114-FE98D53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Реальные места из каталога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Демо-разбор текста, без live-генерации</a:t>
            </a:r>
          </a:p>
        </p:txBody>
      </p:sp>
    </p:spTree>
    <p:extLst>
      <p:ext uri="{BB962C8B-B14F-4D97-AF65-F5344CB8AC3E}">
        <p14:creationId xmlns:p14="http://schemas.microsoft.com/office/powerpoint/2010/main" val="1685440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2A51A20C-0E4C-4315-8452-58157D6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Сценарий выбора места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AFF78E2-140E-426C-94EE-F3DB544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scenario-caption">
            <a:extLst xmlns:a="http://schemas.openxmlformats.org/drawingml/2006/main">
              <a:ext uri="{FF2B5EF4-FFF2-40B4-BE49-F238E27FC236}">
                <a16:creationId xmlns:a16="http://schemas.microsoft.com/office/drawing/2014/main" id="{355ED9D5-D9B5-4B8A-874A-F067F01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EXPO, 5 км, до 60 минут. «Хочу погулять»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887B7-C113-4273-A7CD-218FD567FB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78dcc171454e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EB04E-0353-46DF-857C-8673216A3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af2a73b2146a3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58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87BFA667-82B5-40E4-97D8-7D34CD2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Каталог с первичными источниками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61546FEA-BFF1-4223-BE6C-0CA51B60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graphicFrame>
        <p:nvGraphicFramePr>
          <p:cNvPr id="3" name="catalog-evidence">
            <a:extLst xmlns:a="http://schemas.openxmlformats.org/drawingml/2006/main">
              <a:ext uri="{FF2B5EF4-FFF2-40B4-BE49-F238E27FC236}">
                <a16:creationId xmlns:a16="http://schemas.microsoft.com/office/drawing/2014/main" id="{BADB64C8-AE34-4A03-AA3F-DF7D7299C05A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24765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Принято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Реальные места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298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Короткие выдержки отзывов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591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Проверенный срез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36 мест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talog-reviewed">
            <a:extLst xmlns:a="http://schemas.openxmlformats.org/drawingml/2006/main">
              <a:ext uri="{FF2B5EF4-FFF2-40B4-BE49-F238E27FC236}">
                <a16:creationId xmlns:a16="http://schemas.microsoft.com/office/drawing/2014/main" id="{2F2FEF49-D31B-4CE9-83BF-6A25B36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Срез: 3 зоны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и 3 категории</a:t>
            </a:r>
          </a:p>
        </p:txBody>
      </p:sp>
      <p:sp>
        <p:nvSpPr>
          <p:cNvPr id="5" name="catalog-unknown">
            <a:extLst xmlns:a="http://schemas.openxmlformats.org/drawingml/2006/main">
              <a:ext uri="{FF2B5EF4-FFF2-40B4-BE49-F238E27FC236}">
                <a16:creationId xmlns:a16="http://schemas.microsoft.com/office/drawing/2014/main" id="{AB49F9CE-FBFB-48EE-8A68-73172DB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Цены и удобства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остаются неизвестными</a:t>
            </a:r>
          </a:p>
        </p:txBody>
      </p:sp>
      <p:sp>
        <p:nvSpPr>
          <p:cNvPr id="6" name="catalog-opinions">
            <a:extLst xmlns:a="http://schemas.openxmlformats.org/drawingml/2006/main">
              <a:ext uri="{FF2B5EF4-FFF2-40B4-BE49-F238E27FC236}">
                <a16:creationId xmlns:a16="http://schemas.microsoft.com/office/drawing/2014/main" id="{898C2A33-74BF-4E7D-9204-F62F0C3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Отзывы: мнения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с источником</a:t>
            </a:r>
          </a:p>
        </p:txBody>
      </p:sp>
      <p:sp>
        <p:nvSpPr>
          <p:cNvPr id="7" name="catalog-time">
            <a:extLst xmlns:a="http://schemas.openxmlformats.org/drawingml/2006/main">
              <a:ext uri="{FF2B5EF4-FFF2-40B4-BE49-F238E27FC236}">
                <a16:creationId xmlns:a16="http://schemas.microsoft.com/office/drawing/2014/main" id="{E9049AFA-85C4-40C0-9C7E-2E14490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Сбор: 19 октября, 18:24–18:35 UTC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Финальный снимок: 18:41 UTC / 23:41 в Астане</a:t>
            </a:r>
          </a:p>
        </p:txBody>
      </p:sp>
    </p:spTree>
    <p:extLst>
      <p:ext uri="{BB962C8B-B14F-4D97-AF65-F5344CB8AC3E}">
        <p14:creationId xmlns:p14="http://schemas.microsoft.com/office/powerpoint/2010/main" val="1394908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280BA592-99B1-4344-99F6-9A0F6FC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Поиск в текущем демо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809361A-22E1-420D-93BE-4B0FCE8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3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0C4262A0-B75B-4E6A-A17B-46C5E5D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ipeline-step-0">
            <a:extLst xmlns:a="http://schemas.openxmlformats.org/drawingml/2006/main">
              <a:ext uri="{FF2B5EF4-FFF2-40B4-BE49-F238E27FC236}">
                <a16:creationId xmlns:a16="http://schemas.microsoft.com/office/drawing/2014/main" id="{B27A0CE7-A580-4D38-8487-6BD79B5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Категория или одна из пяти точных фраз</a:t>
            </a:r>
          </a:p>
        </p:txBody>
      </p:sp>
      <p:sp>
        <p:nvSpPr>
          <p:cNvPr id="5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288D220B-F269-421D-BAF3-6A68D21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pipeline-step-1">
            <a:extLst xmlns:a="http://schemas.openxmlformats.org/drawingml/2006/main">
              <a:ext uri="{FF2B5EF4-FFF2-40B4-BE49-F238E27FC236}">
                <a16:creationId xmlns:a16="http://schemas.microsoft.com/office/drawing/2014/main" id="{C5989F99-CCBF-41D1-90AA-76362E2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Жёсткие фильтры по данным и координатам</a:t>
            </a:r>
          </a:p>
        </p:txBody>
      </p:sp>
      <p:sp>
        <p:nvSpPr>
          <p:cNvPr id="7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69164646-CC82-45A3-9431-F3DE137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pipeline-step-2">
            <a:extLst xmlns:a="http://schemas.openxmlformats.org/drawingml/2006/main">
              <a:ext uri="{FF2B5EF4-FFF2-40B4-BE49-F238E27FC236}">
                <a16:creationId xmlns:a16="http://schemas.microsoft.com/office/drawing/2014/main" id="{BE0F7846-5746-428D-9AD8-DF88832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Лексическое ранжирование</a:t>
            </a:r>
          </a:p>
        </p:txBody>
      </p:sp>
      <p:sp>
        <p:nvSpPr>
          <p:cNvPr id="9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405DF4EC-7314-4595-BCB8-41A9348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pipeline-step-3">
            <a:extLst xmlns:a="http://schemas.openxmlformats.org/drawingml/2006/main">
              <a:ext uri="{FF2B5EF4-FFF2-40B4-BE49-F238E27FC236}">
                <a16:creationId xmlns:a16="http://schemas.microsoft.com/office/drawing/2014/main" id="{172E4611-4D1F-4B17-B824-AFB0219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Проверка ID места и его источников</a:t>
            </a:r>
          </a:p>
        </p:txBody>
      </p:sp>
      <p:sp>
        <p:nvSpPr>
          <p:cNvPr id="11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C96DE14C-077E-4007-8B33-509CC75C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pipeline-step-4">
            <a:extLst xmlns:a="http://schemas.openxmlformats.org/drawingml/2006/main">
              <a:ext uri="{FF2B5EF4-FFF2-40B4-BE49-F238E27FC236}">
                <a16:creationId xmlns:a16="http://schemas.microsoft.com/office/drawing/2014/main" id="{9DD5FBD1-888F-4698-B82C-FF59B84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Факты карточки из загруженного каталога</a:t>
            </a:r>
          </a:p>
        </p:txBody>
      </p:sp>
      <p:sp>
        <p:nvSpPr>
          <p:cNvPr id="13" name="pipeline-clarify">
            <a:extLst xmlns:a="http://schemas.openxmlformats.org/drawingml/2006/main">
              <a:ext uri="{FF2B5EF4-FFF2-40B4-BE49-F238E27FC236}">
                <a16:creationId xmlns:a16="http://schemas.microsoft.com/office/drawing/2014/main" id="{534A2BD1-715C-4ED6-81D5-459488D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Незнакомый непустой запрос требует уточнения.</a:t>
            </a:r>
          </a:p>
        </p:txBody>
      </p:sp>
      <p:sp>
        <p:nvSpPr>
          <p:cNvPr id="14" name="pipeline-disabled">
            <a:extLst xmlns:a="http://schemas.openxmlformats.org/drawingml/2006/main">
              <a:ext uri="{FF2B5EF4-FFF2-40B4-BE49-F238E27FC236}">
                <a16:creationId xmlns:a16="http://schemas.microsoft.com/office/drawing/2014/main" id="{57C4650E-2C1B-4CCA-A41D-A13D520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Смысловой индекс и live-генерация сейчас не активны.</a:t>
            </a:r>
          </a:p>
        </p:txBody>
      </p:sp>
    </p:spTree>
    <p:extLst>
      <p:ext uri="{BB962C8B-B14F-4D97-AF65-F5344CB8AC3E}">
        <p14:creationId xmlns:p14="http://schemas.microsoft.com/office/powerpoint/2010/main" val="99947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DFEEDA97-7060-46B4-9330-34AF1BF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Профили, источники и маршруты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FCA01DC-DCE5-4EBF-92E5-5548A96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details-caption">
            <a:extLst xmlns:a="http://schemas.openxmlformats.org/drawingml/2006/main">
              <a:ext uri="{FF2B5EF4-FFF2-40B4-BE49-F238E27FC236}">
                <a16:creationId xmlns:a16="http://schemas.microsoft.com/office/drawing/2014/main" id="{E4A90521-47FC-43FC-A4BD-5934C2D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Отзывы с датами и ссылками. Текущий запрос важнее демо-профиля.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4B37F-CA1B-4435-8B10-79593443B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0bda39a47462f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281F-815C-40ED-82B3-0F56774A5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d10117ca744ab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44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6">
            <a:extLst xmlns:a="http://schemas.openxmlformats.org/drawingml/2006/main">
              <a:ext uri="{FF2B5EF4-FFF2-40B4-BE49-F238E27FC236}">
                <a16:creationId xmlns:a16="http://schemas.microsoft.com/office/drawing/2014/main" id="{098287B7-FB41-4313-9BAD-F45A336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Качество поиска по словам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E7616794-961D-496D-818B-8CA6B0D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graphicFrame>
        <p:nvGraphicFramePr>
          <p:cNvPr id="3" name="retrieval-measurements">
            <a:extLst xmlns:a="http://schemas.openxmlformats.org/drawingml/2006/main">
              <a:ext uri="{FF2B5EF4-FFF2-40B4-BE49-F238E27FC236}">
                <a16:creationId xmlns:a16="http://schemas.microsoft.com/office/drawing/2014/main" id="{5EB62E38-34AE-4C7D-9601-775DA63CEEE6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2476500"/>
                <a:gridCol w="24765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Сейчас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Top-3 success, 12 RU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11/12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12/12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Macro Recall@5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88,33%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97,22%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Проверки жёсткого отказа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quality-ceiling">
            <a:extLst xmlns:a="http://schemas.openxmlformats.org/drawingml/2006/main">
              <a:ext uri="{FF2B5EF4-FFF2-40B4-BE49-F238E27FC236}">
                <a16:creationId xmlns:a16="http://schemas.microsoft.com/office/drawing/2014/main" id="{C14135B5-5A85-4AA3-A699-60CD255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Потолок набора: 97,22%. У двух запросов по 6 релевантных мест.</a:t>
            </a:r>
          </a:p>
        </p:txBody>
      </p:sp>
      <p:sp>
        <p:nvSpPr>
          <p:cNvPr id="5" name="quality-kk">
            <a:extLst xmlns:a="http://schemas.openxmlformats.org/drawingml/2006/main">
              <a:ext uri="{FF2B5EF4-FFF2-40B4-BE49-F238E27FC236}">
                <a16:creationId xmlns:a16="http://schemas.microsoft.com/office/drawing/2014/main" id="{488E670E-8F37-4394-B274-1944BA8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Отдельные 4 KK: top-3 4/4, Macro Recall@5 91,67%.</a:t>
            </a:r>
          </a:p>
        </p:txBody>
      </p:sp>
      <p:sp>
        <p:nvSpPr>
          <p:cNvPr id="6" name="quality-limit">
            <a:extLst xmlns:a="http://schemas.openxmlformats.org/drawingml/2006/main">
              <a:ext uri="{FF2B5EF4-FFF2-40B4-BE49-F238E27FC236}">
                <a16:creationId xmlns:a16="http://schemas.microsoft.com/office/drawing/2014/main" id="{D0FEB208-B6F5-412F-A357-989EB02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Разметка агента, без слепого теста людьми.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KK не проверен носителем или live-моделью. </a:t>
            </a: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Live-ИИ пока не принят.</a:t>
            </a:r>
          </a:p>
        </p:txBody>
      </p:sp>
    </p:spTree>
    <p:extLst>
      <p:ext uri="{BB962C8B-B14F-4D97-AF65-F5344CB8AC3E}">
        <p14:creationId xmlns:p14="http://schemas.microsoft.com/office/powerpoint/2010/main" val="15722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E25E2B56-5CCE-45DD-88A2-2C61908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Демо и следующая проверка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45ECB9DB-7AD3-4FF8-96FF-0E788DA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3" name="verified-demo-url">
            <a:extLst xmlns:a="http://schemas.openxmlformats.org/drawingml/2006/main">
              <a:ext uri="{FF2B5EF4-FFF2-40B4-BE49-F238E27FC236}">
                <a16:creationId xmlns:a16="http://schemas.microsoft.com/office/drawing/2014/main" id="{284BBD8F-BE8E-4CD1-BB85-480AF7C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7D8"/>
                </a:solidFill>
                <a:latin typeface="Arial"/>
                <a:ea typeface="Arial"/>
                <a:cs typeface="Arial"/>
                <a:hlinkClick xmlns:r="http://schemas.openxmlformats.org/officeDocument/2006/relationships" r:id="Re4ac6d0f94e741f3"/>
              </a:rPr>
              <a:t>https://donate-cooperation-quick-annual.trycloudflare.com</a:t>
            </a:r>
          </a:p>
        </p:txBody>
      </p:sp>
      <p:sp>
        <p:nvSpPr>
          <p:cNvPr id="4" name="temporary-lifecycle">
            <a:extLst xmlns:a="http://schemas.openxmlformats.org/drawingml/2006/main">
              <a:ext uri="{FF2B5EF4-FFF2-40B4-BE49-F238E27FC236}">
                <a16:creationId xmlns:a16="http://schemas.microsoft.com/office/drawing/2014/main" id="{9FC7A69B-77C3-4704-9887-DCEA3D2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Временная ссылка. Нужны работающие Mac, сервер, туннель и сеть.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Постоянного хостинга и SLA нет.</a:t>
            </a:r>
          </a:p>
        </p:txBody>
      </p:sp>
      <p:sp>
        <p:nvSpPr>
          <p:cNvPr id="5" name="visible-limitations">
            <a:extLst xmlns:a="http://schemas.openxmlformats.org/drawingml/2006/main">
              <a:ext uri="{FF2B5EF4-FFF2-40B4-BE49-F238E27FC236}">
                <a16:creationId xmlns:a16="http://schemas.microsoft.com/office/drawing/2014/main" id="{5D982C88-4651-42D1-B4BF-4776169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Публичное демо: stub/лексика, без live-ИИ и голоса.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Текущий URL: телефон и native-карты не проверены.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Полная RAG-приёмка не пройдена.</a:t>
            </a:r>
          </a:p>
        </p:txBody>
      </p:sp>
      <p:sp>
        <p:nvSpPr>
          <p:cNvPr id="6" name="budget-boundary">
            <a:extLst xmlns:a="http://schemas.openxmlformats.org/drawingml/2006/main">
              <a:ext uri="{FF2B5EF4-FFF2-40B4-BE49-F238E27FC236}">
                <a16:creationId xmlns:a16="http://schemas.microsoft.com/office/drawing/2014/main" id="{CB24851A-0A46-48ED-BFC0-632A4B8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Live-вызовы остановлены. Подготовка до $2, резерв демо $4.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Стоимость части попыток неизвестна.</a:t>
            </a:r>
          </a:p>
        </p:txBody>
      </p:sp>
      <p:sp>
        <p:nvSpPr>
          <p:cNvPr id="7" name="untested-business-hypothesis">
            <a:extLst xmlns:a="http://schemas.openxmlformats.org/drawingml/2006/main">
              <a:ext uri="{FF2B5EF4-FFF2-40B4-BE49-F238E27FC236}">
                <a16:creationId xmlns:a16="http://schemas.microsoft.com/office/drawing/2014/main" id="{2C3FFF73-59AC-4649-A37F-E3A5E30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Непроверенная бизнес-гипотеза: партнёрские предложения заведений.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Проверка: интервью. Рекламу помечать, жёсткие фильтры сохранять.</a:t>
            </a:r>
          </a:p>
        </p:txBody>
      </p:sp>
    </p:spTree>
    <p:extLst>
      <p:ext uri="{BB962C8B-B14F-4D97-AF65-F5344CB8AC3E}">
        <p14:creationId xmlns:p14="http://schemas.microsoft.com/office/powerpoint/2010/main" val="134872716"/>
      </p:ext>
    </p:extLst>
  </p:cSld>
</p:sld>
</file>

<file path=ppt/theme/theme1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2026-10-20T17:47:23.9110000Z</dcterms:created>
  <dcterms:modified xsi:type="dcterms:W3CDTF">2026-10-20T17:47:23.9110000Z</dcterms:modified>
</coreProperties>
</file>