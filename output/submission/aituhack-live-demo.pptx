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c2f20c477a4eb4" /><Relationship Type="http://schemas.openxmlformats.org/officeDocument/2006/relationships/extended-properties" Target="/docProps/app.xml" Id="Recfccca5dd0e4dd3" /><Relationship Type="http://schemas.openxmlformats.org/officeDocument/2006/relationships/officeDocument" Target="/ppt/presentation.xml" Id="Ra95b881662594b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c62be80e20437c"/>
  </p:sldMasterIdLst>
  <p:notesMasterIdLst>
    <p:notesMasterId xmlns:r="http://schemas.openxmlformats.org/officeDocument/2006/relationships" r:id="R2e04dd5a3e66417d"/>
  </p:notesMasterIdLst>
  <p:sldIdLst>
    <p:sldId xmlns:r="http://schemas.openxmlformats.org/officeDocument/2006/relationships" id="256" r:id="Rca1a2ba576164c40"/>
    <p:sldId xmlns:r="http://schemas.openxmlformats.org/officeDocument/2006/relationships" id="257" r:id="Rccefb71e1b714089"/>
    <p:sldId xmlns:r="http://schemas.openxmlformats.org/officeDocument/2006/relationships" id="258" r:id="Raf4125c0094c4ce6"/>
    <p:sldId xmlns:r="http://schemas.openxmlformats.org/officeDocument/2006/relationships" id="259" r:id="R2bbf35755d0f47ae"/>
    <p:sldId xmlns:r="http://schemas.openxmlformats.org/officeDocument/2006/relationships" id="260" r:id="R3f51416b0eaa43e1"/>
    <p:sldId xmlns:r="http://schemas.openxmlformats.org/officeDocument/2006/relationships" id="261" r:id="Rd36923e93c4946f2"/>
    <p:sldId xmlns:r="http://schemas.openxmlformats.org/officeDocument/2006/relationships" id="262" r:id="Rbdc223b7295844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06c5e826924be1" /><Relationship Type="http://schemas.openxmlformats.org/officeDocument/2006/relationships/slideMaster" Target="/ppt/slideMasters/slideMaster1.xml" Id="R21c62be80e20437c" /><Relationship Type="http://schemas.openxmlformats.org/officeDocument/2006/relationships/notesMaster" Target="/ppt/notesMasters/notesMaster1.xml" Id="R2e04dd5a3e66417d" /><Relationship Type="http://schemas.openxmlformats.org/officeDocument/2006/relationships/presProps" Target="/ppt/presProps.xml" Id="R1a48e287a8d34a4f" /><Relationship Type="http://schemas.openxmlformats.org/officeDocument/2006/relationships/tableStyles" Target="/ppt/tableStyles.xml" Id="Rf083e85016e44f92" /><Relationship Type="http://schemas.openxmlformats.org/officeDocument/2006/relationships/slide" Target="/ppt/slides/slide1.xml" Id="Rca1a2ba576164c40" /><Relationship Type="http://schemas.openxmlformats.org/officeDocument/2006/relationships/slide" Target="/ppt/slides/slide2.xml" Id="Rccefb71e1b714089" /><Relationship Type="http://schemas.openxmlformats.org/officeDocument/2006/relationships/slide" Target="/ppt/slides/slide3.xml" Id="Raf4125c0094c4ce6" /><Relationship Type="http://schemas.openxmlformats.org/officeDocument/2006/relationships/slide" Target="/ppt/slides/slide4.xml" Id="R2bbf35755d0f47ae" /><Relationship Type="http://schemas.openxmlformats.org/officeDocument/2006/relationships/slide" Target="/ppt/slides/slide5.xml" Id="R3f51416b0eaa43e1" /><Relationship Type="http://schemas.openxmlformats.org/officeDocument/2006/relationships/slide" Target="/ppt/slides/slide6.xml" Id="Rd36923e93c4946f2" /><Relationship Type="http://schemas.openxmlformats.org/officeDocument/2006/relationships/slide" Target="/ppt/slides/slide7.xml" Id="Rbdc223b7295844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281e1aab9c42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b84c6209f4c47" /><Relationship Type="http://schemas.openxmlformats.org/officeDocument/2006/relationships/notesMaster" Target="/ppt/notesMasters/notesMaster1.xml" Id="R8f7cd6a4b66345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1073b9c984f72" /><Relationship Type="http://schemas.openxmlformats.org/officeDocument/2006/relationships/notesMaster" Target="/ppt/notesMasters/notesMaster1.xml" Id="Rfea9f638eba8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042915f4ea4c10" /><Relationship Type="http://schemas.openxmlformats.org/officeDocument/2006/relationships/notesMaster" Target="/ppt/notesMasters/notesMaster1.xml" Id="R26c3c3302f1f48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698d890119451a" /><Relationship Type="http://schemas.openxmlformats.org/officeDocument/2006/relationships/notesMaster" Target="/ppt/notesMasters/notesMaster1.xml" Id="R63b4222b0ddf48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c2920fffa243c6" /><Relationship Type="http://schemas.openxmlformats.org/officeDocument/2006/relationships/notesMaster" Target="/ppt/notesMasters/notesMaster1.xml" Id="R088a7cba24dc4a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ef253ae22a44c9" /><Relationship Type="http://schemas.openxmlformats.org/officeDocument/2006/relationships/notesMaster" Target="/ppt/notesMasters/notesMaster1.xml" Id="R10075394ba9047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f0c11969bf4712" /><Relationship Type="http://schemas.openxmlformats.org/officeDocument/2006/relationships/notesMaster" Target="/ppt/notesMasters/notesMaster1.xml" Id="R0bd4300f741746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1.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 сделали помощник для выбора места в Астане. Пользователь задаёт точку, время и желание, затем сравнивает до трёх вариантов из настоящего каталога. На текущем временном HTTPS-сайте включена Mistral Small 3.2 через OpenRouter, фиксированный провайдер DeepInfra fp8. Поиск использует настоящий семантический индекс, а объяснения ссылаются на источники тех же мест. Мы проверили два настоящих end-to-end сценария. Это сокращённая экстренная проверка, а не полное сравнение моделей или доказательство качества любого свободного запроса. Далее покажем путь, данные, источники и точные границы принятого результата.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docs/readiness-report.md; docs/submission/links.md; docs/submission/limitations.md; docs/model-decision.md; docs/budget.md. Подтверждённый cutover20.10.2026 18:16UTC; sourcefe4c0ef / buildP3aScnSHAtsKMfuzUrbrK. Изображения на слайдах2/5: исторический source572a813.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Откройте текущую ссылку на последнем слайде. Оставьте без демо-профиля, выберите EXPO, пять километров, шестьдесят минут и пустой бюджет. Не нажимайте старую кнопку готовой фразы: в live-версии её нет. Введите вручную «Найдите парк для часовой прогулки» и нажмите «Найти места». Принятый реальный тест вернул два парка: Ботанический сад и Президентский парк. Новый запрос может дать другую допустимую выдачу, мы не обещаем ровно три карточки. Эти два скриншота сохранены из прежнего stub и подписаны историческими. В live-карточках причины с review-источниками имеют пометку «По отзывам (мнения пользователей)».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docs/readiness-report.md; docs/submission/links.md; docs/submission/limitations.md; docs/model-decision.md; docs/budget.md. Подтверждённый cutover20.10.2026 18:16UTC; sourcefe4c0ef / buildP3aScnSHAtsKMfuzUrbrK. Изображения на слайдах2/5: исторический source572a813.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 — 298 реальных POI из сохранённого снимка 2ГИС/Apify. Для приложения сделан отдельный offline-адаптер, исходные локальные снимки сохранены. Каждое место содержит ссылки и даты источников. В каталог вошла 591 короткая исходная выдержка отзыва без авторов и контактов. Проверенный срез из 36 мест покрывает три зоны и три категории. Цен и подтверждённых удобств нет, поэтому они остаются неизвестными. Время на слайде относится к сбору и формированию снимка, а не к публикации места или отзыва. Отзыв остаётся мнением. Права публикации исходных отзывов отдельно не установлены. Это срез, а не весь город или live-справочник.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docs/readiness-report.md; docs/submission/links.md; docs/submission/limitations.md; docs/model-decision.md; docs/budget.md. Подтверждённый cutover20.10.2026 18:16UTC; sourcefe4c0ef / buildP3aScnSHAtsKMfuzUrbrK. Изображения на слайдах2/5: исторический source572a813.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Сервер передаёт модели свободный текст и явные ограничения, а выбранную точку обозначает безопасным названием пресета. Mistral Small 3.2 отвечает по строгой JSON-схеме. Код сохраняет жёсткие фильтры и ищет в реальном индексе 298 мест по1536 измерений. Точные названия, координаты, рейтинги и маршруты подставляются из каталога, а не из текста модели. Объяснения проходят проверку ID и источников. Обязательные неизвестные свойства не ослабляются: второй тест с обязательными розетками вернул ноль мест. На попытку действует15секунд, на запрос общий срок25секунд. При неизвестной стоимости общий guard останавливает платные вызовы. Резерв и фактическая известная стоимость учитываются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docs/readiness-report.md; docs/submission/links.md; docs/submission/limitations.md; docs/model-decision.md; docs/budget.md. Подтверждённый cutover20.10.2026 18:16UTC; sourcefe4c0ef / buildP3aScnSHAtsKMfuzUrbrK. Изображения на слайдах2/5: исторический source572a813.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Экраны подробностей здесь исторические, из прежнего stub. Структура источников и маршрутов сохранена в текущем приложении. Отзывы раскрываются как мнения посетителей, дата сбора отделена от даты публикации. Новый префикс в основном объяснении явно относит review-backed впечатления к мнениям пользователей, не превращая их в подтверждённые удобства. «Сохранить» и «Не интересно» используют локальные ID, профиль обозначен как демонстрационный. Обе карты получают только точку выбранного места и режим пешком или на машине. Native-переходы ранее подтвердил пользователь на старом stub. Текущая live-сборка отдельно на физическом телефоне ещё не проверена.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docs/readiness-report.md; docs/submission/links.md; docs/submission/limitations.md; docs/model-decision.md; docs/budget.md. Подтверждённый cutover20.10.2026 18:16UTC; sourcefe4c0ef / buildP3aScnSHAtsKMfuzUrbrK. Изображения на слайдах2/5: исторический source572a813.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65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Таблица сохраняет измеренные результаты лексического development-набора:12русских положительных запросов, top3success12из12, macroRecall@5 97,22процента, четыре отрицательных сценария отдельно. Это не результаты live-модели и не слепой пользовательский benchmark. Отдельно локально принят настоящий индекс298×1536 и semantic retrieval12RU+4negative. После пользовательского сокращения приёмки выполнены два реальных браузерных end-to-end запроса: мобильная прогулка дала два парка с допустимыми ID и источниками, desktop-запрос с обязательными розетками дал ноль мест. Четыре provider-операции имеют известную суммарную стоимость0,0002702USD. Исходное сравнение трёх моделей72этапа и сокращённые48/24 не завершены. Не переносим эти два случая на все12запросов или все языки.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docs/readiness-report.md; docs/submission/links.md; docs/submission/limitations.md; docs/model-decision.md; docs/budget.md. Подтверждённый cutover20.10.2026 18:16UTC; sourcefe4c0ef / buildP3aScnSHAtsKMfuzUrbrK. Изображения на слайдах2/5: исторический source572a813.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55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Текущий donate URL подтверждён HTTPS200 после переключения на sourcefe4c0ef и buildP3aScnSHAtsKMfuzUrbrK. Режимlive, Mistral Small3.2 через DeepInfra fp8/OpenRouter, отдельный runtime-purpose demo. Два принятых платных smoke выполнены на неизменном backend0f47; последующее изменениеfe4 касается только явного отнесения review-backed объяснений к мнениям. Публичный cutover проверили GET и совпадением статических assets без нового платного запроса. Сайт зависит от Mac, сервера, туннеля и сети, постоянного hosting/SLA нет. Голос не включён. MP4 и WEBM показывают исторический stub, это не запись нынешнего live-ИИ. Известные реальные costs не смешиваем с отдельно разрешёнными верхними оценками прежних неизвестных charges. Полный benchmark не заявляем.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docs/readiness-report.md; docs/submission/links.md; docs/submission/limitations.md; docs/model-decision.md; docs/budget.md. Подтверждённый cutover20.10.2026 18:16UTC; sourcefe4c0ef / buildP3aScnSHAtsKMfuzUrbrK. Изображения на слайдах2/5: исторический source572a813.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960d69cde49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3207bb08345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f6ea007434d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aaee4fffc40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12bd8fd8b48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64998bb49040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8EC6D1-2F90-4666-8291-41C160C86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95FE03-9971-4515-A1B2-8FC5A5D7AF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BBC051-C515-46D1-8101-B92412F12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D130D0-CCAE-4396-83FC-1A79D88CDE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0AA695-458A-4357-813D-6C9086A5C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5EFD13-BFA1-4373-B1DF-57F01E1D62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710226-34FA-43C6-B728-0D8FB6A6CE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184C8A-9251-4C98-A1E1-3FBF87A798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45CD2-E2CD-40AF-9E03-A4A89DDD1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F890AA-00E6-4427-B3DB-2780A1E37F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8df20608d74880" /><Relationship Type="http://schemas.openxmlformats.org/officeDocument/2006/relationships/slideLayout" Target="/ppt/slideLayouts/slideLayout1.xml" Id="Rfc3168361f604196" /><Relationship Type="http://schemas.openxmlformats.org/officeDocument/2006/relationships/slideLayout" Target="/ppt/slideLayouts/slideLayout2.xml" Id="R1a724da2631b48e1" /><Relationship Type="http://schemas.openxmlformats.org/officeDocument/2006/relationships/slideLayout" Target="/ppt/slideLayouts/slideLayout3.xml" Id="Rd5b2ddca55a041da" /><Relationship Type="http://schemas.openxmlformats.org/officeDocument/2006/relationships/slideLayout" Target="/ppt/slideLayouts/slideLayout4.xml" Id="R64d8d3c12a8141f3" /><Relationship Type="http://schemas.openxmlformats.org/officeDocument/2006/relationships/slideLayout" Target="/ppt/slideLayouts/slideLayout5.xml" Id="R03ea33a32c724bb8" /><Relationship Type="http://schemas.openxmlformats.org/officeDocument/2006/relationships/slideLayout" Target="/ppt/slideLayouts/slideLayout6.xml" Id="Rae17de1c047741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3168361f604196"/>
    <p:sldLayoutId xmlns:r="http://schemas.openxmlformats.org/officeDocument/2006/relationships" id="2147483650" r:id="R1a724da2631b48e1"/>
    <p:sldLayoutId xmlns:r="http://schemas.openxmlformats.org/officeDocument/2006/relationships" id="2147483651" r:id="Rd5b2ddca55a041da"/>
    <p:sldLayoutId xmlns:r="http://schemas.openxmlformats.org/officeDocument/2006/relationships" id="2147483652" r:id="R64d8d3c12a8141f3"/>
    <p:sldLayoutId xmlns:r="http://schemas.openxmlformats.org/officeDocument/2006/relationships" id="2147483653" r:id="R03ea33a32c724bb8"/>
    <p:sldLayoutId xmlns:r="http://schemas.openxmlformats.org/officeDocument/2006/relationships" id="2147483654" r:id="Rae17de1c047741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20b5781b042b2" /><Relationship Type="http://schemas.openxmlformats.org/officeDocument/2006/relationships/notesSlide" Target="/ppt/notesSlides/notesSlide1.xml" Id="Rd69a61d9e18145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832611f7c43a1" /><Relationship Type="http://schemas.openxmlformats.org/officeDocument/2006/relationships/image" Target="/ppt/media/image.png" Id="R2fbee2a3bf7c4e3c" /><Relationship Type="http://schemas.openxmlformats.org/officeDocument/2006/relationships/image" Target="/ppt/media/image2.png" Id="R5d81fcf0bd8347ab" /><Relationship Type="http://schemas.openxmlformats.org/officeDocument/2006/relationships/notesSlide" Target="/ppt/notesSlides/notesSlide2.xml" Id="R5dc1df6a221049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46678ea124f86" /><Relationship Type="http://schemas.openxmlformats.org/officeDocument/2006/relationships/notesSlide" Target="/ppt/notesSlides/notesSlide3.xml" Id="Rf08c065ebc9b48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cb1a34d4114a75" /><Relationship Type="http://schemas.openxmlformats.org/officeDocument/2006/relationships/notesSlide" Target="/ppt/notesSlides/notesSlide4.xml" Id="Rb9448e017d164d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c06e2a8f04433" /><Relationship Type="http://schemas.openxmlformats.org/officeDocument/2006/relationships/image" Target="/ppt/media/image3.png" Id="R77cb0e1ee4824dd5" /><Relationship Type="http://schemas.openxmlformats.org/officeDocument/2006/relationships/image" Target="/ppt/media/image4.png" Id="R1972eb112cb54f7d" /><Relationship Type="http://schemas.openxmlformats.org/officeDocument/2006/relationships/notesSlide" Target="/ppt/notesSlides/notesSlide5.xml" Id="Rc719455772c746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1170ec0fc4bb0" /><Relationship Type="http://schemas.openxmlformats.org/officeDocument/2006/relationships/notesSlide" Target="/ppt/notesSlides/notesSlide6.xml" Id="R53e872cc2d50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e05485edd42f3" /><Relationship Type="http://schemas.openxmlformats.org/officeDocument/2006/relationships/hyperlink" Target="https://donate-cooperation-quick-annual.trycloudflare.com" TargetMode="External" Id="Rc55d2f0b965149ca" /><Relationship Type="http://schemas.openxmlformats.org/officeDocument/2006/relationships/notesSlide" Target="/ppt/notesSlides/notesSlide7.xml" Id="Ree7dfb9440a643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3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41C699E3-0D68-451E-9587-76E032E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1 / 7</a:t>
            </a:r>
          </a:p>
        </p:txBody>
      </p:sp>
      <p:sp>
        <p:nvSpPr>
          <p:cNvPr id="2" name="cover-event">
            <a:extLst xmlns:a="http://schemas.openxmlformats.org/drawingml/2006/main">
              <a:ext uri="{FF2B5EF4-FFF2-40B4-BE49-F238E27FC236}">
                <a16:creationId xmlns:a16="http://schemas.microsoft.com/office/drawing/2014/main" id="{2632E896-F045-4C50-A8A6-CF7204C7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AituHack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43473FA-C6B0-4080-A285-A46D0856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Куда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в Астане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45193C9-05E0-4B7D-BA5D-9E8D0120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Место под ваше время</a:t>
            </a:r>
          </a:p>
        </p:txBody>
      </p:sp>
      <p:sp>
        <p:nvSpPr>
          <p:cNvPr id="5" name="cover-disclosure">
            <a:extLst xmlns:a="http://schemas.openxmlformats.org/drawingml/2006/main">
              <a:ext uri="{FF2B5EF4-FFF2-40B4-BE49-F238E27FC236}">
                <a16:creationId xmlns:a16="http://schemas.microsoft.com/office/drawing/2014/main" id="{11D2FC42-709F-4789-B114-FE98D536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981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Реальные места из каталога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Настоящий ИИ и RAG, два проверенных сценария</a:t>
            </a:r>
          </a:p>
        </p:txBody>
      </p:sp>
    </p:spTree>
    <p:extLst>
      <p:ext uri="{BB962C8B-B14F-4D97-AF65-F5344CB8AC3E}">
        <p14:creationId xmlns:p14="http://schemas.microsoft.com/office/powerpoint/2010/main" val="1685440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2A51A20C-0E4C-4315-8452-58157D65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Сценарий выбора места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7AFF78E2-140E-426C-94EE-F3DB544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3" name="scenario-caption">
            <a:extLst xmlns:a="http://schemas.openxmlformats.org/drawingml/2006/main">
              <a:ext uri="{FF2B5EF4-FFF2-40B4-BE49-F238E27FC236}">
                <a16:creationId xmlns:a16="http://schemas.microsoft.com/office/drawing/2014/main" id="{355ED9D5-D9B5-4B8A-874A-F067F01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Live: «Найдите парк для часовой прогулки». Экраны: прежний stub.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009F4-003C-4F55-B7D1-E8BEE1C41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ee2a3bf7c4e3c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7086600" cy="4429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69310-AD73-44E3-9523-237310410B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1fcf0bd8347ab"/>
          <a:stretch xmlns:a="http://schemas.openxmlformats.org/drawingml/2006/main"/>
        </p:blipFill>
        <p:spPr>
          <a:xfrm xmlns:a="http://schemas.openxmlformats.org/drawingml/2006/main">
            <a:off x="9030321" y="1762125"/>
            <a:ext cx="2046634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58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87BFA667-82B5-40E4-97D8-7D34CD27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Каталог с первичными источниками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61546FEA-BFF1-4223-BE6C-0CA51B60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graphicFrame>
        <p:nvGraphicFramePr>
          <p:cNvPr id="3" name="catalog-evidence">
            <a:extLst xmlns:a="http://schemas.openxmlformats.org/drawingml/2006/main">
              <a:ext uri="{FF2B5EF4-FFF2-40B4-BE49-F238E27FC236}">
                <a16:creationId xmlns:a16="http://schemas.microsoft.com/office/drawing/2014/main" id="{DFE283C9-A50F-4923-BCC0-F0233868E77B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24765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Принято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Реальные места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298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Категории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Короткие выдержки отзывов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591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Проверенный срез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36 мест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talog-reviewed">
            <a:extLst xmlns:a="http://schemas.openxmlformats.org/drawingml/2006/main">
              <a:ext uri="{FF2B5EF4-FFF2-40B4-BE49-F238E27FC236}">
                <a16:creationId xmlns:a16="http://schemas.microsoft.com/office/drawing/2014/main" id="{2F2FEF49-D31B-4CE9-83BF-6A25B363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Срез: 3 зоны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и 3 категории</a:t>
            </a:r>
          </a:p>
        </p:txBody>
      </p:sp>
      <p:sp>
        <p:nvSpPr>
          <p:cNvPr id="5" name="catalog-unknown">
            <a:extLst xmlns:a="http://schemas.openxmlformats.org/drawingml/2006/main">
              <a:ext uri="{FF2B5EF4-FFF2-40B4-BE49-F238E27FC236}">
                <a16:creationId xmlns:a16="http://schemas.microsoft.com/office/drawing/2014/main" id="{AB49F9CE-FBFB-48EE-8A68-73172DB7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Цены и удобства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остаются неизвестными</a:t>
            </a:r>
          </a:p>
        </p:txBody>
      </p:sp>
      <p:sp>
        <p:nvSpPr>
          <p:cNvPr id="6" name="catalog-opinions">
            <a:extLst xmlns:a="http://schemas.openxmlformats.org/drawingml/2006/main">
              <a:ext uri="{FF2B5EF4-FFF2-40B4-BE49-F238E27FC236}">
                <a16:creationId xmlns:a16="http://schemas.microsoft.com/office/drawing/2014/main" id="{898C2A33-74BF-4E7D-9204-F62F0C3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72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Отзывы: мнения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с источником</a:t>
            </a:r>
          </a:p>
        </p:txBody>
      </p:sp>
      <p:sp>
        <p:nvSpPr>
          <p:cNvPr id="7" name="catalog-time">
            <a:extLst xmlns:a="http://schemas.openxmlformats.org/drawingml/2006/main">
              <a:ext uri="{FF2B5EF4-FFF2-40B4-BE49-F238E27FC236}">
                <a16:creationId xmlns:a16="http://schemas.microsoft.com/office/drawing/2014/main" id="{E9049AFA-85C4-40C0-9C7E-2E14490A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Сбор: 19 октября, 18:24–18:35 UTC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Финальный снимок: 18:41 UTC / 23:41 в Астане</a:t>
            </a:r>
          </a:p>
        </p:txBody>
      </p:sp>
    </p:spTree>
    <p:extLst>
      <p:ext uri="{BB962C8B-B14F-4D97-AF65-F5344CB8AC3E}">
        <p14:creationId xmlns:p14="http://schemas.microsoft.com/office/powerpoint/2010/main" val="1394908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4">
            <a:extLst xmlns:a="http://schemas.openxmlformats.org/drawingml/2006/main">
              <a:ext uri="{FF2B5EF4-FFF2-40B4-BE49-F238E27FC236}">
                <a16:creationId xmlns:a16="http://schemas.microsoft.com/office/drawing/2014/main" id="{280BA592-99B1-4344-99F6-9A0F6FC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Поиск в текущем демо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C809361A-22E1-420D-93BE-4B0FCE80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sp>
        <p:nvSpPr>
          <p:cNvPr id="3" name="pipeline-number-0">
            <a:extLst xmlns:a="http://schemas.openxmlformats.org/drawingml/2006/main">
              <a:ext uri="{FF2B5EF4-FFF2-40B4-BE49-F238E27FC236}">
                <a16:creationId xmlns:a16="http://schemas.microsoft.com/office/drawing/2014/main" id="{0C4262A0-B75B-4E6A-A17B-46C5E5D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pipeline-step-0">
            <a:extLst xmlns:a="http://schemas.openxmlformats.org/drawingml/2006/main">
              <a:ext uri="{FF2B5EF4-FFF2-40B4-BE49-F238E27FC236}">
                <a16:creationId xmlns:a16="http://schemas.microsoft.com/office/drawing/2014/main" id="{B27A0CE7-A580-4D38-8487-6BD79B57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Свободный текст: Mistral Small 3.2 через OpenRouter</a:t>
            </a:r>
          </a:p>
        </p:txBody>
      </p:sp>
      <p:sp>
        <p:nvSpPr>
          <p:cNvPr id="5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288D220B-F269-421D-BAF3-6A68D21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pipeline-step-1">
            <a:extLst xmlns:a="http://schemas.openxmlformats.org/drawingml/2006/main">
              <a:ext uri="{FF2B5EF4-FFF2-40B4-BE49-F238E27FC236}">
                <a16:creationId xmlns:a16="http://schemas.microsoft.com/office/drawing/2014/main" id="{C5989F99-CCBF-41D1-90AA-76362E20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98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Жёсткие фильтры по данным и координатам</a:t>
            </a:r>
          </a:p>
        </p:txBody>
      </p:sp>
      <p:sp>
        <p:nvSpPr>
          <p:cNvPr id="7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69164646-CC82-45A3-9431-F3DE1376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pipeline-step-2">
            <a:extLst xmlns:a="http://schemas.openxmlformats.org/drawingml/2006/main">
              <a:ext uri="{FF2B5EF4-FFF2-40B4-BE49-F238E27FC236}">
                <a16:creationId xmlns:a16="http://schemas.microsoft.com/office/drawing/2014/main" id="{BE0F7846-5746-428D-9AD8-DF88832E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575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Семантический поиск: индекс 298 × 1536</a:t>
            </a:r>
          </a:p>
        </p:txBody>
      </p:sp>
      <p:sp>
        <p:nvSpPr>
          <p:cNvPr id="9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405DF4EC-7314-4595-BCB8-41A9348A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052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pipeline-step-3">
            <a:extLst xmlns:a="http://schemas.openxmlformats.org/drawingml/2006/main">
              <a:ext uri="{FF2B5EF4-FFF2-40B4-BE49-F238E27FC236}">
                <a16:creationId xmlns:a16="http://schemas.microsoft.com/office/drawing/2014/main" id="{172E4611-4D1F-4B17-B824-AFB0219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Объяснения с ID места и его источниками</a:t>
            </a:r>
          </a:p>
        </p:txBody>
      </p:sp>
      <p:sp>
        <p:nvSpPr>
          <p:cNvPr id="11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C96DE14C-077E-4007-8B33-509CC75C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7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pipeline-step-4">
            <a:extLst xmlns:a="http://schemas.openxmlformats.org/drawingml/2006/main">
              <a:ext uri="{FF2B5EF4-FFF2-40B4-BE49-F238E27FC236}">
                <a16:creationId xmlns:a16="http://schemas.microsoft.com/office/drawing/2014/main" id="{9DD5FBD1-888F-4698-B82C-FF59B847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529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Факты карточки и маршруты из каталога</a:t>
            </a:r>
          </a:p>
        </p:txBody>
      </p:sp>
      <p:sp>
        <p:nvSpPr>
          <p:cNvPr id="13" name="pipeline-clarify">
            <a:extLst xmlns:a="http://schemas.openxmlformats.org/drawingml/2006/main">
              <a:ext uri="{FF2B5EF4-FFF2-40B4-BE49-F238E27FC236}">
                <a16:creationId xmlns:a16="http://schemas.microsoft.com/office/drawing/2014/main" id="{534A2BD1-715C-4ED6-81D5-459488D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EXPO, 5 км, 60 минут, бюджет пустой. Запрос вводим вручную.</a:t>
            </a:r>
          </a:p>
        </p:txBody>
      </p:sp>
      <p:sp>
        <p:nvSpPr>
          <p:cNvPr id="14" name="pipeline-disabled">
            <a:extLst xmlns:a="http://schemas.openxmlformats.org/drawingml/2006/main">
              <a:ext uri="{FF2B5EF4-FFF2-40B4-BE49-F238E27FC236}">
                <a16:creationId xmlns:a16="http://schemas.microsoft.com/office/drawing/2014/main" id="{57C4650E-2C1B-4CCA-A41D-A13D520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Неизвестное обязательное свойство: уточнение или отказ.</a:t>
            </a:r>
          </a:p>
        </p:txBody>
      </p:sp>
    </p:spTree>
    <p:extLst>
      <p:ext uri="{BB962C8B-B14F-4D97-AF65-F5344CB8AC3E}">
        <p14:creationId xmlns:p14="http://schemas.microsoft.com/office/powerpoint/2010/main" val="999477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DFEEDA97-7060-46B4-9330-34AF1BFF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Профили, источники и маршруты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FCA01DC-DCE5-4EBF-92E5-5548A96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3" name="details-caption">
            <a:extLst xmlns:a="http://schemas.openxmlformats.org/drawingml/2006/main">
              <a:ext uri="{FF2B5EF4-FFF2-40B4-BE49-F238E27FC236}">
                <a16:creationId xmlns:a16="http://schemas.microsoft.com/office/drawing/2014/main" id="{E4A90521-47FC-43FC-A4BD-5934C2D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Исторические экраны stub: источники, отзывы и маршруты.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45F70-B7BF-425F-825F-1D6CDAA79B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b0e1ee4824dd5"/>
          <a:stretch xmlns:a="http://schemas.openxmlformats.org/drawingml/2006/main"/>
        </p:blipFill>
        <p:spPr>
          <a:xfrm xmlns:a="http://schemas.openxmlformats.org/drawingml/2006/main">
            <a:off x="666750" y="1762125"/>
            <a:ext cx="7086600" cy="4429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E5547-615B-4F62-8D22-D88198142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2eb112cb54f7d"/>
          <a:stretch xmlns:a="http://schemas.openxmlformats.org/drawingml/2006/main"/>
        </p:blipFill>
        <p:spPr>
          <a:xfrm xmlns:a="http://schemas.openxmlformats.org/drawingml/2006/main">
            <a:off x="9030321" y="1762125"/>
            <a:ext cx="2046634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44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6">
            <a:extLst xmlns:a="http://schemas.openxmlformats.org/drawingml/2006/main">
              <a:ext uri="{FF2B5EF4-FFF2-40B4-BE49-F238E27FC236}">
                <a16:creationId xmlns:a16="http://schemas.microsoft.com/office/drawing/2014/main" id="{098287B7-FB41-4313-9BAD-F45A3363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Проверки поиска и live-сценарии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E7616794-961D-496D-818B-8CA6B0D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graphicFrame>
        <p:nvGraphicFramePr>
          <p:cNvPr id="3" name="retrieval-measurements">
            <a:extLst xmlns:a="http://schemas.openxmlformats.org/drawingml/2006/main">
              <a:ext uri="{FF2B5EF4-FFF2-40B4-BE49-F238E27FC236}">
                <a16:creationId xmlns:a16="http://schemas.microsoft.com/office/drawing/2014/main" id="{4B7F3114-103C-4208-B899-656ECE4BA42D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476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905500"/>
                <a:gridCol w="2476500"/>
                <a:gridCol w="2476500"/>
              </a:tblGrid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Лексика до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Лексика сейчас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457D8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Top-3 success, 12 RU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11/12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12/12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Macro Recall@5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88,33%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97,22%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Проверки жёсткого отказа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2100" b="0">
                          <a:solidFill>
                            <a:srgbClr val="14283F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quality-ceiling">
            <a:extLst xmlns:a="http://schemas.openxmlformats.org/drawingml/2006/main">
              <a:ext uri="{FF2B5EF4-FFF2-40B4-BE49-F238E27FC236}">
                <a16:creationId xmlns:a16="http://schemas.microsoft.com/office/drawing/2014/main" id="{C14135B5-5A85-4AA3-A699-60CD255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Локальный semantic retrieval: 12 RU + 4 negative PASS.</a:t>
            </a:r>
          </a:p>
        </p:txBody>
      </p:sp>
      <p:sp>
        <p:nvSpPr>
          <p:cNvPr id="5" name="quality-kk">
            <a:extLst xmlns:a="http://schemas.openxmlformats.org/drawingml/2006/main">
              <a:ext uri="{FF2B5EF4-FFF2-40B4-BE49-F238E27FC236}">
                <a16:creationId xmlns:a16="http://schemas.microsoft.com/office/drawing/2014/main" id="{488E670E-8F37-4394-B274-1944BA87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Live-smoke: прогулка дала 2 парка. Обязательные розетки дали 0 мест.</a:t>
            </a:r>
          </a:p>
        </p:txBody>
      </p:sp>
      <p:sp>
        <p:nvSpPr>
          <p:cNvPr id="6" name="quality-limit">
            <a:extLst xmlns:a="http://schemas.openxmlformats.org/drawingml/2006/main">
              <a:ext uri="{FF2B5EF4-FFF2-40B4-BE49-F238E27FC236}">
                <a16:creationId xmlns:a16="http://schemas.microsoft.com/office/drawing/2014/main" id="{D0FEB208-B6F5-412F-A357-989EB02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Разметка агента. Проверены два live-сценария, не все 12 запросов.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Полные сравнения 72/48/24 этапа не завершены.</a:t>
            </a:r>
          </a:p>
        </p:txBody>
      </p:sp>
    </p:spTree>
    <p:extLst>
      <p:ext uri="{BB962C8B-B14F-4D97-AF65-F5344CB8AC3E}">
        <p14:creationId xmlns:p14="http://schemas.microsoft.com/office/powerpoint/2010/main" val="15722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E25E2B56-5CCE-45DD-88A2-2C61908D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83F"/>
                </a:solidFill>
                <a:latin typeface="Arial"/>
                <a:ea typeface="Arial"/>
                <a:cs typeface="Arial"/>
              </a:rPr>
              <a:t>Демо и следующая проверка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45ECB9DB-7AD3-4FF8-96FF-0E788DAC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86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3" name="verified-demo-url">
            <a:extLst xmlns:a="http://schemas.openxmlformats.org/drawingml/2006/main">
              <a:ext uri="{FF2B5EF4-FFF2-40B4-BE49-F238E27FC236}">
                <a16:creationId xmlns:a16="http://schemas.microsoft.com/office/drawing/2014/main" id="{284BBD8F-BE8E-4CD1-BB85-480AF7C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57D8"/>
                </a:solidFill>
                <a:latin typeface="Arial"/>
                <a:ea typeface="Arial"/>
                <a:cs typeface="Arial"/>
                <a:hlinkClick xmlns:r="http://schemas.openxmlformats.org/officeDocument/2006/relationships" r:id="Rc55d2f0b965149ca"/>
              </a:rPr>
              <a:t>https://donate-cooperation-quick-annual.trycloudflare.com</a:t>
            </a:r>
          </a:p>
        </p:txBody>
      </p:sp>
      <p:sp>
        <p:nvSpPr>
          <p:cNvPr id="4" name="temporary-lifecycle">
            <a:extLst xmlns:a="http://schemas.openxmlformats.org/drawingml/2006/main">
              <a:ext uri="{FF2B5EF4-FFF2-40B4-BE49-F238E27FC236}">
                <a16:creationId xmlns:a16="http://schemas.microsoft.com/office/drawing/2014/main" id="{9FC7A69B-77C3-4704-9887-DCEA3D29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Временная ссылка. Нужны работающие Mac, сервер, туннель и сеть.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Постоянного хостинга и SLA нет.</a:t>
            </a:r>
          </a:p>
        </p:txBody>
      </p:sp>
      <p:sp>
        <p:nvSpPr>
          <p:cNvPr id="5" name="visible-limitations">
            <a:extLst xmlns:a="http://schemas.openxmlformats.org/drawingml/2006/main">
              <a:ext uri="{FF2B5EF4-FFF2-40B4-BE49-F238E27FC236}">
                <a16:creationId xmlns:a16="http://schemas.microsoft.com/office/drawing/2014/main" id="{5D982C88-4651-42D1-B4BF-47761695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Live: Mistral Small 3.2 / DeepInfra через OpenRouter.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Смысловой индекс: 298 × 1536. Голос не включён.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4283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83F"/>
                </a:solidFill>
                <a:latin typeface="Arial"/>
                <a:ea typeface="Arial"/>
                <a:cs typeface="Arial"/>
              </a:rPr>
              <a:t>Два smoke пройдены. Полные сравнения не завершены.</a:t>
            </a:r>
          </a:p>
        </p:txBody>
      </p:sp>
      <p:sp>
        <p:nvSpPr>
          <p:cNvPr id="6" name="budget-boundary">
            <a:extLst xmlns:a="http://schemas.openxmlformats.org/drawingml/2006/main">
              <a:ext uri="{FF2B5EF4-FFF2-40B4-BE49-F238E27FC236}">
                <a16:creationId xmlns:a16="http://schemas.microsoft.com/office/drawing/2014/main" id="{CB24851A-0A46-48ED-BFC0-632A4B86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148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Два smoke: $0,0002702. Подготовка до $2, резерв демо $4.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D6E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E81"/>
                </a:solidFill>
                <a:latin typeface="Arial"/>
                <a:ea typeface="Arial"/>
                <a:cs typeface="Arial"/>
              </a:rPr>
              <a:t>Прежние неизвестные расходы учтены верхней оценкой.</a:t>
            </a:r>
          </a:p>
        </p:txBody>
      </p:sp>
      <p:sp>
        <p:nvSpPr>
          <p:cNvPr id="7" name="untested-business-hypothesis">
            <a:extLst xmlns:a="http://schemas.openxmlformats.org/drawingml/2006/main">
              <a:ext uri="{FF2B5EF4-FFF2-40B4-BE49-F238E27FC236}">
                <a16:creationId xmlns:a16="http://schemas.microsoft.com/office/drawing/2014/main" id="{2C3FFF73-59AC-4649-A37F-E3A5E300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Непроверенная бизнес-гипотеза: партнёрские предложения заведений.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5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57D8"/>
                </a:solidFill>
                <a:latin typeface="Arial"/>
                <a:ea typeface="Arial"/>
                <a:cs typeface="Arial"/>
              </a:rPr>
              <a:t>Проверка: интервью. Рекламу помечать, жёсткие фильтры сохранять.</a:t>
            </a:r>
          </a:p>
        </p:txBody>
      </p:sp>
    </p:spTree>
    <p:extLst>
      <p:ext uri="{BB962C8B-B14F-4D97-AF65-F5344CB8AC3E}">
        <p14:creationId xmlns:p14="http://schemas.microsoft.com/office/powerpoint/2010/main" val="134872716"/>
      </p:ext>
    </p:extLst>
  </p:cSld>
</p:sld>
</file>

<file path=ppt/theme/theme1.xml><?xml version="1.0" encoding="utf-8"?>
<a:theme xmlns:a="http://schemas.openxmlformats.org/drawingml/2006/main" name="ChatGPT">
  <a:themeElements>
    <a:clrScheme name="Куда в Астане">
      <a:dk1>
        <a:srgbClr val="000000"/>
      </a:dk1>
      <a:lt1>
        <a:srgbClr val="FFFFFF"/>
      </a:lt1>
      <a:dk2>
        <a:srgbClr val="14283F"/>
      </a:dk2>
      <a:lt2>
        <a:srgbClr val="DCE4EF"/>
      </a:lt2>
      <a:accent1>
        <a:srgbClr val="2457D8"/>
      </a:accent1>
      <a:accent2>
        <a:srgbClr val="2145A1"/>
      </a:accent2>
      <a:accent3>
        <a:srgbClr val="5D6E81"/>
      </a:accent3>
      <a:accent4>
        <a:srgbClr val="AE3428"/>
      </a:accent4>
      <a:accent5>
        <a:srgbClr val="7C3AED"/>
      </a:accent5>
      <a:accent6>
        <a:srgbClr val="0F766E"/>
      </a:accent6>
      <a:hlink>
        <a:srgbClr val="2457D8"/>
      </a:hlink>
      <a:folHlink>
        <a:srgbClr val="2145A1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Куда в Астане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2026-10-20T18:18:05.3630000Z</dcterms:created>
  <dcterms:modified xsi:type="dcterms:W3CDTF">2026-10-20T18:18:05.3630000Z</dcterms:modified>
</coreProperties>
</file>